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5303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8FAFC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5852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0">
                <a:solidFill>
                  <a:srgbClr val="2DD4BF"/>
                </a:solidFill>
                <a:latin typeface="Calibri"/>
              </a:rPr>
              <a:t>Neo4j Graph DB Sosyal A? ve Graph Analiz Paneli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5120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BMU1208 - Web Tabanl? Programlama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Haz?rlayan: Amir Sheikh</a:t>
            </a:r>
          </a:p>
          <a:p>
            <a:pPr>
              <a:spcAft>
                <a:spcPts val="800"/>
              </a:spcAft>
              <a:defRPr sz="1700">
                <a:solidFill>
                  <a:srgbClr val="F8FAFC"/>
                </a:solidFill>
                <a:latin typeface="Calibri"/>
              </a:defRPr>
            </a:pPr>
            <a:r>
              <a:t>Bitlis Eren ?niversitesi | 2025-2026 Bahar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501" y="502920"/>
            <a:ext cx="4353477" cy="52120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5285232"/>
            <a:ext cx="100584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Neo4j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5285232"/>
            <a:ext cx="105156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Express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5285232"/>
            <a:ext cx="132588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Cytoscape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5285232"/>
            <a:ext cx="822960" cy="3200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Calibri"/>
              </a:rPr>
              <a:t>JWT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Problem ve Proje Amac?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2120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Calibri"/>
              </a:defRPr>
            </a:pPr>
            <a:r>
              <a:t>Sosyal a? verisi ili?ki yo?un bir veri yap?s?d?r.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Calibri"/>
              </a:defRPr>
            </a:pPr>
            <a:r>
              <a:t>Klasik tablolarda ?ok ad?ml? ba?lant?lar JOIN zincirleriyle karma??kla??r.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Calibri"/>
              </a:defRPr>
            </a:pPr>
            <a:r>
              <a:t>Kullan?c?lar ?nerilerin ve ba?lant?lar?n neden olu?tu?unu g?rmek ister.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521208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7451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766E"/>
                </a:solidFill>
                <a:latin typeface="Calibri"/>
              </a:rPr>
              <a:t>Ama?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42316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Calibri"/>
              </a:defRPr>
            </a:pPr>
            <a:r>
              <a:t>Neo4j ile ger?ek sosyal graph modeli kurmak.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Calibri"/>
              </a:defRPr>
            </a:pPr>
            <a:r>
              <a:t>Takip, g?nderi, be?eni, yorum ve medya ak???n? ?al???r hale getirmek.</a:t>
            </a:r>
          </a:p>
          <a:p>
            <a:pPr>
              <a:spcAft>
                <a:spcPts val="800"/>
              </a:spcAft>
              <a:defRPr sz="1900">
                <a:solidFill>
                  <a:srgbClr val="0F172A"/>
                </a:solidFill>
                <a:latin typeface="Calibri"/>
              </a:defRPr>
            </a:pPr>
            <a:r>
              <a:t>Graph algoritmalar?yla sosyal a?? analiz etmek ve g?rselle?tirmek.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Sistem Mimarisi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tain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1702"/>
            <a:ext cx="5212080" cy="293179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554480"/>
            <a:ext cx="5120640" cy="4206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874519"/>
            <a:ext cx="4434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Frontend: HTML, CSS, Vanilla JavaScript ve Cytoscape.js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Backend: Node.js + Express REST API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Veritaban?: Neo4j Community + Cypher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G?venlik: JWT HttpOnly cookie, bcrypt, Helmet, rate limit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Dok?mantasyon: Swagger UI ve OpenAPI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Graph Veri Modeli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ph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65985"/>
            <a:ext cx="5303520" cy="29832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4173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37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Calibri"/>
              </a:rPr>
              <a:t>Temel Ba?lant?lar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240280"/>
            <a:ext cx="4480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User -[:FOLLOWS]-&gt; User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User -[:AUTHORED]-&gt; Post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User -[:LIKED]-&gt; Post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User -[:COMMENTED]-&gt; Comment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Comment -[:ON_POST]-&gt; Post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User -[:HAS_SESSION]-&gt; Session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Neden Neo4j?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337560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Calibri"/>
              </a:rPr>
              <a:t>Do?al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Sosyal a? zaten graph yap?s?ndad?r.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Kullan?c?lar ve ili?kiler do?rudan modellenir.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37560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1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Calibri"/>
              </a:rPr>
              <a:t>G??l? Sorgular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514600"/>
            <a:ext cx="2606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Shortest path, mutual connection ve ?neri sorgular? daha okunabilir.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Cypher graph desenlerini net ifade eder.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554480"/>
            <a:ext cx="3337560" cy="4251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874519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0F766E"/>
                </a:solidFill>
                <a:latin typeface="Calibri"/>
              </a:rPr>
              <a:t>Graph Analizi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14600"/>
            <a:ext cx="2606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Louvain, PageRank, FastRP ve Dijkstra deste?i.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Proje CRUD seviyesinin ?st?ne ??kar.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Uygulama ?zellikleri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st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441" y="1508760"/>
            <a:ext cx="681157" cy="4297680"/>
          </a:xfrm>
          <a:prstGeom prst="rect">
            <a:avLst/>
          </a:prstGeom>
        </p:spPr>
      </p:pic>
      <p:pic>
        <p:nvPicPr>
          <p:cNvPr id="7" name="Picture 6" descr="users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2159" y="1508760"/>
            <a:ext cx="1277241" cy="4297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508760"/>
            <a:ext cx="30632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783080"/>
            <a:ext cx="246888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Kay?t / giri? / ??k??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Takip ve takipten ??kma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Foto?raf/video g?nderileri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G?nderi d?zenleme ve silme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Be?eni ve yorum ak???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Dark / light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Graph Analiz Paneli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ph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72" y="1508760"/>
            <a:ext cx="5119295" cy="4297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50876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83080"/>
            <a:ext cx="44348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2. derece ba?lant?lar: arkada??n takip etti?i adaylar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Ortak ba?lant?lar: iki kullan?c? aras?ndaki ortak ki?iler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Tavsiye algoritmas?: mutual + benzer be?eni davran???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Shortest path: iki kullan?c? aras?ndaki en k?sa sosyal yol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PageRank ve Louvain ile sosyal a? analizi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Kimlik Do?rulama ve G?venlik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equenc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17420"/>
            <a:ext cx="5120640" cy="28803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508760"/>
            <a:ext cx="512064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83080"/>
            <a:ext cx="4434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?ifreler bcrypt ile hashlenir.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Access ve refresh token HttpOnly cookie i?inde tutulur.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Zod ile request validation yap?l?r.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Helmet g?venlik ba?l?klar? ekler.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Rate limit k?t?ye kullan?m? azalt?r.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G?nderi edit/silme i?in owner/admin kontrol? vard?r.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Neden Bu Teknolojiler?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686800"/>
              </a:tblGrid>
              <a:tr h="61395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AFC"/>
                          </a:solidFill>
                        </a:defRPr>
                      </a:pPr>
                      <a:r>
                        <a:t>Teknoloji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AFC"/>
                          </a:solidFill>
                        </a:defRPr>
                      </a:pPr>
                      <a:r>
                        <a:t>Sebep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Express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Basit, h?zl? ve middleware tabanl? REST API geli?tirme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Neo4j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Sosyal ili?kiler ve graph sorgular? i?in do?al veritaban?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Cypher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Path ve ili?ki desenlerini okunabilir ifade etme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Vanilla JS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Build gerektirmeyen, hafif ve anla??l?r frontend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Cytoscape.js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Node-edge graph g?rselle?tirme i?in haz?r ??z?m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Zod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Merkezi ve g?venilir veri do?rulama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API ve Dok?mantasyon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wag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1417320"/>
            <a:ext cx="3072384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0" y="1417320"/>
            <a:ext cx="512064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737360"/>
            <a:ext cx="4434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Auth endpointleri: register, login, refresh, logout, me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Social endpointleri: users, follows, posts, likes, comments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Post endpointleri: create, edit, delete, media support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Graph endpointleri: network, status, communities, pagerank, embeddings, shortest-path</a:t>
            </a:r>
          </a:p>
          <a:p>
            <a:pPr>
              <a:spcAft>
                <a:spcPts val="800"/>
              </a:spcAft>
              <a:defRPr sz="1700">
                <a:solidFill>
                  <a:srgbClr val="0F172A"/>
                </a:solidFill>
                <a:latin typeface="Calibri"/>
              </a:defRPr>
            </a:pPr>
            <a:r>
              <a:t>Swagger UI ile API test edilebilir ve okunabilir hale gelir.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Test, Kurulum ve ?al??t?rma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est-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17432"/>
            <a:ext cx="4114800" cy="23145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166360" y="1508760"/>
            <a:ext cx="63093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0" y="1783080"/>
            <a:ext cx="53035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npm install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npm run neo4j:setup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npm run neo4j:start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npm start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npm test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Uygulama: http://localhost:3000</a:t>
            </a:r>
          </a:p>
          <a:p>
            <a:pPr>
              <a:spcAft>
                <a:spcPts val="8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Swagger: http://localhost:3000/docs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F766E"/>
                </a:solidFill>
                <a:latin typeface="Calibri"/>
              </a:rPr>
              <a:t>GRAPHLINK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Projeyi G??l? Yapan Noktalar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61872"/>
            <a:ext cx="118872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97280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1498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Calibri"/>
              </a:defRPr>
            </a:pPr>
            <a:r>
              <a:t>Problem-teknoloji uyumu g??l?: sosyal a? i?in graph veritaban? kullan?l?yor.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Calibri"/>
              </a:defRPr>
            </a:pPr>
            <a:r>
              <a:t>Sadece CRUD de?il; graph algoritmalar? ve analiz paneli i?eriyor.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Calibri"/>
              </a:defRPr>
            </a:pPr>
            <a:r>
              <a:t>Full-stack teslim: frontend, backend, Neo4j, auth, validation, docs, testler.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Calibri"/>
              </a:defRPr>
            </a:pPr>
            <a:r>
              <a:t>Modern UX: medya destekli g?nderiler, edit/silme, yorumlar, dark/light mode.</a:t>
            </a:r>
          </a:p>
          <a:p>
            <a:pPr>
              <a:spcAft>
                <a:spcPts val="800"/>
              </a:spcAft>
              <a:defRPr sz="2100">
                <a:solidFill>
                  <a:srgbClr val="0F172A"/>
                </a:solidFill>
                <a:latin typeface="Calibri"/>
              </a:defRPr>
            </a:pPr>
            <a:r>
              <a:t>Sunumda savunulabilir mimari: katmanl? yap? ve net teknoloji gerek?eleri.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4023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8FAFC"/>
                </a:solidFill>
                <a:latin typeface="Calibri"/>
              </a:rPr>
              <a:t>Sonu?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2DD4BF"/>
                </a:solidFill>
                <a:latin typeface="Calibri"/>
              </a:rPr>
              <a:t>GraphLink, sosyal a? verisini do?ru modelle a??klayan ?al??an bir full-stack graph uygulamas?d?r.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9326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8FAFC"/>
                </a:solidFill>
                <a:latin typeface="Calibri"/>
              </a:defRPr>
            </a:pPr>
            <a:r>
              <a:t>Neo4j ile ili?kiler do?al ?ekilde modellenir.</a:t>
            </a:r>
          </a:p>
          <a:p>
            <a:pPr>
              <a:spcAft>
                <a:spcPts val="800"/>
              </a:spcAft>
              <a:defRPr sz="2200">
                <a:solidFill>
                  <a:srgbClr val="F8FAFC"/>
                </a:solidFill>
                <a:latin typeface="Calibri"/>
              </a:defRPr>
            </a:pPr>
            <a:r>
              <a:t>Express API g?venli ve do?rulanm?? veri ak??? sa?lar.</a:t>
            </a:r>
          </a:p>
          <a:p>
            <a:pPr>
              <a:spcAft>
                <a:spcPts val="800"/>
              </a:spcAft>
              <a:defRPr sz="2200">
                <a:solidFill>
                  <a:srgbClr val="F8FAFC"/>
                </a:solidFill>
                <a:latin typeface="Calibri"/>
              </a:defRPr>
            </a:pPr>
            <a:r>
              <a:t>Cytoscape ve GDS analizleri projeyi g?rsel ve teknik olarak g??lendirir.</a:t>
            </a:r>
          </a:p>
          <a:p>
            <a:pPr>
              <a:spcAft>
                <a:spcPts val="800"/>
              </a:spcAft>
              <a:defRPr sz="2200">
                <a:solidFill>
                  <a:srgbClr val="F8FAFC"/>
                </a:solidFill>
                <a:latin typeface="Calibri"/>
              </a:defRPr>
            </a:pPr>
            <a:r>
              <a:t>Medya, yorum, edit/silme ve tema deste?i uygulamay? tamamlanm?? hale getirir.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7150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2DD4BF"/>
                </a:solidFill>
                <a:latin typeface="Calibri"/>
              </a:rPr>
              <a:t>Te?ekk?rler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